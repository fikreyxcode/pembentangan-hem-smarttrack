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solidFill>
              <a:srgbClr val="07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9122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pm-cut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799815" cy="640080"/>
          </a:xfrm>
          <a:prstGeom prst="rect">
            <a:avLst/>
          </a:prstGeom>
        </p:spPr>
      </p:pic>
      <p:pic>
        <p:nvPicPr>
          <p:cNvPr id="5" name="Picture 4" descr="logo-skrg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"/>
            <a:ext cx="497040" cy="640080"/>
          </a:xfrm>
          <a:prstGeom prst="rect">
            <a:avLst/>
          </a:prstGeom>
        </p:spPr>
      </p:pic>
      <p:pic>
        <p:nvPicPr>
          <p:cNvPr id="6" name="Picture 5" descr="logo_rasmi_hem_smarttr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09728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1097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SEKOLAH KEBANGSAAN RANGGU, TAWAU (XBA3037) • TS25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MONTAJ PEMBUKAAN RASMI • PENANDA ARASAN AMALAN TERBAIK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28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8FAFC"/>
                </a:solidFill>
              </a:defRPr>
            </a:pPr>
            <a:r>
              <a:t>HAL EHWAL MURID</a:t>
            </a:r>
          </a:p>
        </p:txBody>
      </p:sp>
      <p:pic>
        <p:nvPicPr>
          <p:cNvPr id="9" name="Picture 8" descr="logo_rasmi_hem_smarttr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990" y="1371600"/>
            <a:ext cx="1828800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3383280"/>
            <a:ext cx="94484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PENANDA ARASAN AMALAN TERBAIK SEKOLAH 2026 (KATEGORI GURU SEKOLAH RENDAH)</a:t>
            </a:r>
          </a:p>
          <a:p>
            <a:pPr algn="ctr">
              <a:defRPr sz="4600" b="1">
                <a:solidFill>
                  <a:srgbClr val="F8FAFC"/>
                </a:solidFill>
              </a:defRPr>
            </a:pPr>
            <a:r>
              <a:t>HEM SmartTrack</a:t>
            </a:r>
          </a:p>
          <a:p>
            <a:pPr algn="ctr">
              <a:defRPr sz="2000">
                <a:solidFill>
                  <a:srgbClr val="06B6D4"/>
                </a:solidFill>
              </a:defRPr>
            </a:pPr>
            <a:r>
              <a:t>Pendigitalan Pengurusan HEM Bersepadu Berasaskan Data Masa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577840"/>
            <a:ext cx="94484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94A3B8"/>
                </a:solidFill>
              </a:defRPr>
            </a:pPr>
            <a:r>
              <a:t>Pembangun &amp; Inovator: MOHAMMAD FIKREY BIN ABDUL GAPAR  |  SK Ranggu, Tawau, Sabah  |  Status: 100% Aktif Digunakan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solidFill>
              <a:srgbClr val="07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9122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pm-cut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799815" cy="640080"/>
          </a:xfrm>
          <a:prstGeom prst="rect">
            <a:avLst/>
          </a:prstGeom>
        </p:spPr>
      </p:pic>
      <p:pic>
        <p:nvPicPr>
          <p:cNvPr id="5" name="Picture 4" descr="logo-skrg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"/>
            <a:ext cx="497040" cy="640080"/>
          </a:xfrm>
          <a:prstGeom prst="rect">
            <a:avLst/>
          </a:prstGeom>
        </p:spPr>
      </p:pic>
      <p:pic>
        <p:nvPicPr>
          <p:cNvPr id="6" name="Picture 5" descr="logo_rasmi_hem_smarttr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09728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1097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SEKOLAH KEBANGSAAN RANGGU, TAWAU (XBA3037) • TS25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JURANG &amp; ISU SEBENAR SEBELUM INOVASI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28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8FAFC"/>
                </a:solidFill>
              </a:defRPr>
            </a:pPr>
            <a:r>
              <a:t>HAL EHWAL MURID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1887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F4444"/>
                </a:solidFill>
              </a:defRPr>
            </a:pPr>
            <a:r>
              <a:t>3 KRISIS KRITIKAL PENGURUSAN HEM MANUAL DI SK RANGGU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103120"/>
            <a:ext cx="3246120" cy="3931920"/>
          </a:xfrm>
          <a:prstGeom prst="roundRect">
            <a:avLst/>
          </a:prstGeom>
          <a:solidFill>
            <a:srgbClr val="190F19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📱 1. Kehadiran WhatsApp Berselerak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Mesej bertimbun ratusan baris setiap pagi.</a:t>
            </a:r>
            <a:br/>
            <a:r>
              <a:t>• Sukar mengesan kelas yang belum mengisi.</a:t>
            </a:r>
            <a:br/>
            <a:r>
              <a:t>• Kira peratus manual guna kalkulator (45 minit).</a:t>
            </a:r>
            <a:br/>
            <a:r>
              <a:t>• Laporan ke PPD tertangguh.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1416" y="2103120"/>
            <a:ext cx="3246120" cy="3931920"/>
          </a:xfrm>
          <a:prstGeom prst="roundRect">
            <a:avLst/>
          </a:prstGeom>
          <a:solidFill>
            <a:srgbClr val="190F19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📖 2. Buku Disiplin Pernah Dikoyak!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Menggunakan buku rekod fizikal yang rapuh.</a:t>
            </a:r>
            <a:br/>
            <a:r>
              <a:t>• Halaman pernah DIKOYAK / DISABOTAJ!</a:t>
            </a:r>
            <a:br/>
            <a:r>
              <a:t>• Bukti salah laku murid lenyap begitu sahaja.</a:t>
            </a:r>
            <a:br/>
            <a:r>
              <a:t>• Tindakan susulan kaunseling terbantut.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2" y="2103120"/>
            <a:ext cx="3246120" cy="3931920"/>
          </a:xfrm>
          <a:prstGeom prst="roundRect">
            <a:avLst/>
          </a:prstGeom>
          <a:solidFill>
            <a:srgbClr val="190F19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📸 3. Laporan Telegram Bercampur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Foto Guru Penyayang di pintu pagar hilang.</a:t>
            </a:r>
            <a:br/>
            <a:r>
              <a:t>• Bercampur dengan perbualan harian Telegram.</a:t>
            </a:r>
            <a:br/>
            <a:r>
              <a:t>• Tiada One-Page Report (OPR) yang seragam.</a:t>
            </a:r>
            <a:br/>
            <a:r>
              <a:t>• Evidens audit SKPMg2 / TS25 tercicir.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solidFill>
              <a:srgbClr val="07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9122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pm-cut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799815" cy="640080"/>
          </a:xfrm>
          <a:prstGeom prst="rect">
            <a:avLst/>
          </a:prstGeom>
        </p:spPr>
      </p:pic>
      <p:pic>
        <p:nvPicPr>
          <p:cNvPr id="5" name="Picture 4" descr="logo-skrg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"/>
            <a:ext cx="497040" cy="640080"/>
          </a:xfrm>
          <a:prstGeom prst="rect">
            <a:avLst/>
          </a:prstGeom>
        </p:spPr>
      </p:pic>
      <p:pic>
        <p:nvPicPr>
          <p:cNvPr id="6" name="Picture 5" descr="logo_rasmi_hem_smarttr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09728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1097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SEKOLAH KEBANGSAAN RANGGU, TAWAU (XBA3037) • TS25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TITIK TRANSFORMASI DIGITAL SK RANGGU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28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8FAFC"/>
                </a:solidFill>
              </a:defRPr>
            </a:pPr>
            <a:r>
              <a:t>HAL EHWAL MURID</a:t>
            </a:r>
          </a:p>
        </p:txBody>
      </p:sp>
      <p:pic>
        <p:nvPicPr>
          <p:cNvPr id="9" name="Picture 8" descr="logo_rasmi_hem_smarttr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1645920"/>
            <a:ext cx="3474720" cy="3474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146304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SATU INOVASI TULEN GURU AKAR UMBI</a:t>
            </a:r>
          </a:p>
          <a:p>
            <a:pPr>
              <a:defRPr sz="3600" b="1">
                <a:solidFill>
                  <a:srgbClr val="F8FAFC"/>
                </a:solidFill>
              </a:defRPr>
            </a:pPr>
            <a:r>
              <a:t>HEM SmartTrack SK Ranggu</a:t>
            </a:r>
          </a:p>
          <a:p>
            <a:pPr>
              <a:defRPr sz="1600" b="1">
                <a:solidFill>
                  <a:srgbClr val="06B6D4"/>
                </a:solidFill>
              </a:defRPr>
            </a:pPr>
            <a:r>
              <a:t>Inovator &amp; Pembangun Sistem:</a:t>
            </a:r>
            <a:br/>
            <a:r>
              <a:t>MOHAMMAD FIKREY BIN ABDUL GAPAR</a:t>
            </a:r>
            <a:br/>
            <a:r>
              <a:t>Guru Inovasi &amp; Pembangun Sistem HEM SmartTrack</a:t>
            </a:r>
          </a:p>
          <a:p>
            <a:br/>
            <a:pPr>
              <a:defRPr sz="1300">
                <a:solidFill>
                  <a:srgbClr val="F8FAFC"/>
                </a:solidFill>
              </a:defRPr>
            </a:pPr>
            <a:r>
              <a:t>• Dibangunkan 100% tanpa kos luar (Sifar Kos Lesen RM0)</a:t>
            </a:r>
            <a:br/>
            <a:r>
              <a:t>• Menggunakan teknologi awan PWA moden yang mesra sebarang telefon bimbit</a:t>
            </a:r>
            <a:br/>
            <a:r>
              <a:t>• Menghubungkan kehadiran, disiplin, pemantauan dan arkib awan dalam satu klik</a:t>
            </a:r>
            <a:br/>
            <a:r>
              <a:t>• Integriti data kalis manipulasi dan kalis sabotaj!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solidFill>
              <a:srgbClr val="07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9122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pm-cut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799815" cy="640080"/>
          </a:xfrm>
          <a:prstGeom prst="rect">
            <a:avLst/>
          </a:prstGeom>
        </p:spPr>
      </p:pic>
      <p:pic>
        <p:nvPicPr>
          <p:cNvPr id="5" name="Picture 4" descr="logo-skrg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"/>
            <a:ext cx="497040" cy="640080"/>
          </a:xfrm>
          <a:prstGeom prst="rect">
            <a:avLst/>
          </a:prstGeom>
        </p:spPr>
      </p:pic>
      <p:pic>
        <p:nvPicPr>
          <p:cNvPr id="6" name="Picture 5" descr="logo_rasmi_hem_smarttr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09728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1097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SEKOLAH KEBANGSAAN RANGGU, TAWAU (XBA3037) • TS25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EKOSISTEM BERSEPADU: 9 MODUL PINTAR MASA NYATA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28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8FAFC"/>
                </a:solidFill>
              </a:defRPr>
            </a:pPr>
            <a:r>
              <a:t>HAL EHWAL MURID</a:t>
            </a:r>
          </a:p>
        </p:txBody>
      </p:sp>
      <p:pic>
        <p:nvPicPr>
          <p:cNvPr id="9" name="Picture 8" descr="modul_01_ejk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1371600"/>
            <a:ext cx="4937760" cy="2743200"/>
          </a:xfrm>
          <a:prstGeom prst="rect">
            <a:avLst/>
          </a:prstGeom>
        </p:spPr>
      </p:pic>
      <p:pic>
        <p:nvPicPr>
          <p:cNvPr id="10" name="Picture 9" descr="modul_04_smartdisiplin_ut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1371600"/>
            <a:ext cx="493776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429768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SEMUA 9 MODUL AKTIF DIGUNAKAN DI SK RANGGU SETIAP HARI: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01 e-JKM (Kehadiran 24 Kelas)  •  02 Keberadaan 58 Guru/AKP  •  03 Guru Bertugas Harian  •  04 HEM SmartDisiplin (Kalis Koyak)</a:t>
            </a:r>
            <a:br/>
            <a:r>
              <a:t>05 Guru Bertugas RMT  •  06 Rekod Kalendar Audit  •  07 Pemantauan 29 Zon Sekolah  •  08 Analisis KPI 96%  •  09 Template OPR Google Drive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solidFill>
              <a:srgbClr val="07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9122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pm-cut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799815" cy="640080"/>
          </a:xfrm>
          <a:prstGeom prst="rect">
            <a:avLst/>
          </a:prstGeom>
        </p:spPr>
      </p:pic>
      <p:pic>
        <p:nvPicPr>
          <p:cNvPr id="5" name="Picture 4" descr="logo-skrg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"/>
            <a:ext cx="497040" cy="640080"/>
          </a:xfrm>
          <a:prstGeom prst="rect">
            <a:avLst/>
          </a:prstGeom>
        </p:spPr>
      </p:pic>
      <p:pic>
        <p:nvPicPr>
          <p:cNvPr id="6" name="Picture 5" descr="logo_rasmi_hem_smarttr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09728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1097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SEKOLAH KEBANGSAAN RANGGU, TAWAU (XBA3037) • TS25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EVIDENS AUTENTIK: KESELAMATAN &amp; DISIPLIN KALIS KOYAK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28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8FAFC"/>
                </a:solidFill>
              </a:defRPr>
            </a:pPr>
            <a:r>
              <a:t>HAL EHWAL MURID</a:t>
            </a:r>
          </a:p>
        </p:txBody>
      </p:sp>
      <p:pic>
        <p:nvPicPr>
          <p:cNvPr id="9" name="Picture 8" descr="modul_09_template_op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1371600"/>
            <a:ext cx="4937760" cy="2743200"/>
          </a:xfrm>
          <a:prstGeom prst="rect">
            <a:avLst/>
          </a:prstGeom>
        </p:spPr>
      </p:pic>
      <p:pic>
        <p:nvPicPr>
          <p:cNvPr id="10" name="Picture 9" descr="modul_08_analisis_kehadir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1371600"/>
            <a:ext cx="4937760" cy="2743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429768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INTEGRITI DISIPLIN TERPELIHARA &amp; AUTOMASI LAPORAN OPR GOOGLE DRIVE: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Modul 04 SmartDisiplin: Sifar rekod hilang kerana data disimpan terus dalam pangkalan data awan berkod ID rasmi.</a:t>
            </a:r>
            <a:br/>
            <a:r>
              <a:t>• Modul 07 &amp; 09 Pemantauan: Butang muat naik gambar aktiviti Guru Penyayang di pintu pagar terus menjana OPR 4 foto.</a:t>
            </a:r>
            <a:br/>
            <a:r>
              <a:t>• Tiada lagi gambar berterabur dalam Telegram; semua difailkan secara automatik ke Google Drive pengurusan 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solidFill>
              <a:srgbClr val="07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9122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pm-cut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799815" cy="640080"/>
          </a:xfrm>
          <a:prstGeom prst="rect">
            <a:avLst/>
          </a:prstGeom>
        </p:spPr>
      </p:pic>
      <p:pic>
        <p:nvPicPr>
          <p:cNvPr id="5" name="Picture 4" descr="logo-skrg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"/>
            <a:ext cx="497040" cy="640080"/>
          </a:xfrm>
          <a:prstGeom prst="rect">
            <a:avLst/>
          </a:prstGeom>
        </p:spPr>
      </p:pic>
      <p:pic>
        <p:nvPicPr>
          <p:cNvPr id="6" name="Picture 5" descr="logo_rasmi_hem_smarttr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09728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1097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SEKOLAH KEBANGSAAN RANGGU, TAWAU (XBA3037) • TS25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DAPATAN IMPAK &amp; KEBERKESANAN (50 MARKAH PENJURIAN)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28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8FAFC"/>
                </a:solidFill>
              </a:defRPr>
            </a:pPr>
            <a:r>
              <a:t>HAL EHWAL MURID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09728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59E0B"/>
                </a:solidFill>
              </a:defRPr>
            </a:pPr>
            <a:r>
              <a:t>BUKTI KEJAYAAN EMPIRIKAL DI SK RANGGU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011680"/>
            <a:ext cx="2377440" cy="4114800"/>
          </a:xfrm>
          <a:prstGeom prst="roundRect">
            <a:avLst/>
          </a:prstGeom>
          <a:solidFill>
            <a:srgbClr val="0D173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⏱️ 89% PENJIMATAN MASA</a:t>
            </a:r>
          </a:p>
          <a:p>
            <a:pPr>
              <a:defRPr sz="1800" b="1">
                <a:solidFill>
                  <a:srgbClr val="F59E0B"/>
                </a:solidFill>
              </a:defRPr>
            </a:pPr>
            <a:r>
              <a:t>45 Minit ➔ 5 Minit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Pengumpulan dan pengesahan kehadiran siap dalam masa 5 minit setiap pagi seawal 7:30.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2011680"/>
            <a:ext cx="2377440" cy="4114800"/>
          </a:xfrm>
          <a:prstGeom prst="roundRect">
            <a:avLst/>
          </a:prstGeom>
          <a:solidFill>
            <a:srgbClr val="0D173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🛡️ SIFAR REKOD HILANG</a:t>
            </a:r>
          </a:p>
          <a:p>
            <a:pPr>
              <a:defRPr sz="1800" b="1">
                <a:solidFill>
                  <a:srgbClr val="F59E0B"/>
                </a:solidFill>
              </a:defRPr>
            </a:pPr>
            <a:r>
              <a:t>0 Kes Sabotaj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Isu helaian buku disiplin dikoyak dihapuskan sepenuhnya. 100% data salah laku direkod telus.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011680"/>
            <a:ext cx="2377440" cy="4114800"/>
          </a:xfrm>
          <a:prstGeom prst="roundRect">
            <a:avLst/>
          </a:prstGeom>
          <a:solidFill>
            <a:srgbClr val="0D173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📈 96.4% KEHADIRAN</a:t>
            </a:r>
          </a:p>
          <a:p>
            <a:pPr>
              <a:defRPr sz="1800" b="1">
                <a:solidFill>
                  <a:srgbClr val="F59E0B"/>
                </a:solidFill>
              </a:defRPr>
            </a:pPr>
            <a:r>
              <a:t>Melepasi Sasaran 96%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Pengesanan pantas murid ponteng membolehkan kaunseling awal, mengekalkan KPI cemerlang.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2011680"/>
            <a:ext cx="2377440" cy="4114800"/>
          </a:xfrm>
          <a:prstGeom prst="roundRect">
            <a:avLst/>
          </a:prstGeom>
          <a:solidFill>
            <a:srgbClr val="0D1731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🌟 98.4% KEPUASAN GURU</a:t>
            </a:r>
          </a:p>
          <a:p>
            <a:pPr>
              <a:defRPr sz="1800" b="1">
                <a:solidFill>
                  <a:srgbClr val="F59E0B"/>
                </a:solidFill>
              </a:defRPr>
            </a:pPr>
            <a:r>
              <a:t>58 Orang Guru Bersetuju</a:t>
            </a:r>
          </a:p>
          <a:p>
            <a:br/>
            <a:pPr>
              <a:defRPr sz="1100">
                <a:solidFill>
                  <a:srgbClr val="F8FAFC"/>
                </a:solidFill>
              </a:defRPr>
            </a:pPr>
            <a:r>
              <a:t>Sistem sangat mesra pengguna, mengurangkan tekanan perkeranian dan menjimatkan masa PdP.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E"/>
          </a:solidFill>
          <a:ln>
            <a:solidFill>
              <a:srgbClr val="070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91228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kpm-cut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"/>
            <a:ext cx="799815" cy="640080"/>
          </a:xfrm>
          <a:prstGeom prst="rect">
            <a:avLst/>
          </a:prstGeom>
        </p:spPr>
      </p:pic>
      <p:pic>
        <p:nvPicPr>
          <p:cNvPr id="5" name="Picture 4" descr="logo-skrg-cu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9728"/>
            <a:ext cx="497040" cy="640080"/>
          </a:xfrm>
          <a:prstGeom prst="rect">
            <a:avLst/>
          </a:prstGeom>
        </p:spPr>
      </p:pic>
      <p:pic>
        <p:nvPicPr>
          <p:cNvPr id="6" name="Picture 5" descr="logo_rasmi_hem_smarttr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109728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834640" y="109728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SEKOLAH KEBANGSAAN RANGGU, TAWAU (XBA3037) • TS25</a:t>
            </a:r>
          </a:p>
          <a:p>
            <a:pPr>
              <a:defRPr sz="1100" b="1">
                <a:solidFill>
                  <a:srgbClr val="06B6D4"/>
                </a:solidFill>
              </a:defRPr>
            </a:pPr>
            <a:r>
              <a:t>MENUJU ANUGERAH EMAS AMALAN TERBAIK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8288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8FAFC"/>
                </a:solidFill>
              </a:defRPr>
            </a:pPr>
            <a:r>
              <a:t>HAL EHWAL MURID</a:t>
            </a:r>
          </a:p>
        </p:txBody>
      </p:sp>
      <p:pic>
        <p:nvPicPr>
          <p:cNvPr id="9" name="Picture 8" descr="logo_rasmi_hem_smarttr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990" y="1371600"/>
            <a:ext cx="1828800" cy="1828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3383280"/>
            <a:ext cx="94484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59E0B"/>
                </a:solidFill>
              </a:defRPr>
            </a:pPr>
            <a:r>
              <a:t>SATU PORTAL, SIFAR KEHILANGAN REKOD!</a:t>
            </a:r>
          </a:p>
          <a:p>
            <a:pPr algn="ctr">
              <a:defRPr sz="1800">
                <a:solidFill>
                  <a:srgbClr val="F8FAFC"/>
                </a:solidFill>
              </a:defRPr>
            </a:pPr>
            <a:r>
              <a:t>HEM SmartTrack: Merealisasikan Pengurusan Data Pintar Demi Kemenjadian Murid SK Ranggu</a:t>
            </a:r>
          </a:p>
          <a:p>
            <a:br/>
            <a:pPr algn="ctr">
              <a:defRPr sz="1400" b="1">
                <a:solidFill>
                  <a:srgbClr val="06B6D4"/>
                </a:solidFill>
              </a:defRPr>
            </a:pPr>
            <a:r>
              <a:t>Sekolah Kebangsaan Ranggu, Tawau  •  "Selangkah Di Hadapan"</a:t>
            </a:r>
            <a:br/>
            <a:r>
              <a:t>Pembentang: MOHAMMAD FIKREY BIN ABDUL GAPAR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