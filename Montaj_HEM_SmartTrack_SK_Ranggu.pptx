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6.png"/><Relationship Id="rId6" Type="http://schemas.openxmlformats.org/officeDocument/2006/relationships/image" Target="../media/image7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D1E"/>
          </a:solidFill>
          <a:ln>
            <a:solidFill>
              <a:srgbClr val="070D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91228"/>
          </a:solidFill>
          <a:ln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logo-kpm-cutou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09728"/>
            <a:ext cx="799815" cy="640080"/>
          </a:xfrm>
          <a:prstGeom prst="rect">
            <a:avLst/>
          </a:prstGeom>
        </p:spPr>
      </p:pic>
      <p:pic>
        <p:nvPicPr>
          <p:cNvPr id="5" name="Picture 4" descr="logo-skrg-cutou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88720" y="109728"/>
            <a:ext cx="497040" cy="640080"/>
          </a:xfrm>
          <a:prstGeom prst="rect">
            <a:avLst/>
          </a:prstGeom>
        </p:spPr>
      </p:pic>
      <p:pic>
        <p:nvPicPr>
          <p:cNvPr id="6" name="Picture 5" descr="logo_rasmi_hem_smarttrack_cutou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11680" y="109728"/>
            <a:ext cx="640080" cy="64008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2834640" y="109728"/>
            <a:ext cx="6400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F59E0B"/>
                </a:solidFill>
              </a:defRPr>
            </a:pPr>
            <a:r>
              <a:t>SEKOLAH KEBANGSAAN RANGGU, TAWAU (XBA3037) • TS25</a:t>
            </a:r>
          </a:p>
          <a:p>
            <a:pPr>
              <a:defRPr sz="1100" b="1">
                <a:solidFill>
                  <a:srgbClr val="06B6D4"/>
                </a:solidFill>
              </a:defRPr>
            </a:pPr>
            <a:r>
              <a:t>MONTAJ PEMBUKAAN RASMI • PENANDA ARASAN AMALAN TERBAIK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0" y="182880"/>
            <a:ext cx="25603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F8FAFC"/>
                </a:solidFill>
              </a:defRPr>
            </a:pPr>
            <a:r>
              <a:t>HAL EHWAL MURID</a:t>
            </a:r>
          </a:p>
        </p:txBody>
      </p:sp>
      <p:pic>
        <p:nvPicPr>
          <p:cNvPr id="9" name="Picture 8" descr="logo_rasmi_hem_smarttrack_cutou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80990" y="1371600"/>
            <a:ext cx="1828800" cy="18288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371600" y="3383280"/>
            <a:ext cx="9448495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59E0B"/>
                </a:solidFill>
              </a:defRPr>
            </a:pPr>
            <a:r>
              <a:t>PENANDA ARASAN AMALAN TERBAIK SEKOLAH 2026 (KATEGORI GURU SEKOLAH RENDAH)</a:t>
            </a:r>
          </a:p>
          <a:p>
            <a:pPr algn="ctr">
              <a:defRPr sz="4600" b="1">
                <a:solidFill>
                  <a:srgbClr val="F8FAFC"/>
                </a:solidFill>
              </a:defRPr>
            </a:pPr>
            <a:r>
              <a:t>HEM SmartTrack</a:t>
            </a:r>
          </a:p>
          <a:p>
            <a:pPr algn="ctr">
              <a:defRPr sz="2000">
                <a:solidFill>
                  <a:srgbClr val="06B6D4"/>
                </a:solidFill>
              </a:defRPr>
            </a:pPr>
            <a:r>
              <a:t>Pendigitalan Pengurusan HEM Bersepadu Berasaskan Data Masa Nyata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71600" y="5577840"/>
            <a:ext cx="9448495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94A3B8"/>
                </a:solidFill>
              </a:defRPr>
            </a:pPr>
            <a:r>
              <a:t>Pembangun &amp; Inovator: MOHAMMAD FIKREY BIN ABDUL GAPAR  |  SK Ranggu, Tawau, Sabah  |  Status: 100% Aktif Digunakan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D1E"/>
          </a:solidFill>
          <a:ln>
            <a:solidFill>
              <a:srgbClr val="070D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91228"/>
          </a:solidFill>
          <a:ln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logo-kpm-cutou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09728"/>
            <a:ext cx="799815" cy="640080"/>
          </a:xfrm>
          <a:prstGeom prst="rect">
            <a:avLst/>
          </a:prstGeom>
        </p:spPr>
      </p:pic>
      <p:pic>
        <p:nvPicPr>
          <p:cNvPr id="5" name="Picture 4" descr="logo-skrg-cutou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88720" y="109728"/>
            <a:ext cx="497040" cy="640080"/>
          </a:xfrm>
          <a:prstGeom prst="rect">
            <a:avLst/>
          </a:prstGeom>
        </p:spPr>
      </p:pic>
      <p:pic>
        <p:nvPicPr>
          <p:cNvPr id="6" name="Picture 5" descr="logo_rasmi_hem_smarttrack_cutou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11680" y="109728"/>
            <a:ext cx="640080" cy="64008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2834640" y="109728"/>
            <a:ext cx="6400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F59E0B"/>
                </a:solidFill>
              </a:defRPr>
            </a:pPr>
            <a:r>
              <a:t>SEKOLAH KEBANGSAAN RANGGU, TAWAU (XBA3037) • TS25</a:t>
            </a:r>
          </a:p>
          <a:p>
            <a:pPr>
              <a:defRPr sz="1100" b="1">
                <a:solidFill>
                  <a:srgbClr val="06B6D4"/>
                </a:solidFill>
              </a:defRPr>
            </a:pPr>
            <a:r>
              <a:t>JURANG &amp; ISU SEBENAR SEBELUM INOVASI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0" y="182880"/>
            <a:ext cx="25603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F8FAFC"/>
                </a:solidFill>
              </a:defRPr>
            </a:pPr>
            <a:r>
              <a:t>HAL EHWAL MURID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1188720"/>
            <a:ext cx="103628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EF4444"/>
                </a:solidFill>
              </a:defRPr>
            </a:pPr>
            <a:r>
              <a:t>3 KRISIS KRITIKAL PENGURUSAN HEM MANUAL DI SK RANGGU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14400" y="2103120"/>
            <a:ext cx="3246120" cy="3931920"/>
          </a:xfrm>
          <a:prstGeom prst="roundRect">
            <a:avLst/>
          </a:prstGeom>
          <a:solidFill>
            <a:srgbClr val="190F19"/>
          </a:solidFill>
          <a:ln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59E0B"/>
                </a:solidFill>
              </a:defRPr>
            </a:pPr>
            <a:r>
              <a:t>📱 1. Kehadiran WhatsApp Berselerak</a:t>
            </a:r>
          </a:p>
          <a:p>
            <a:pPr>
              <a:defRPr sz="1100">
                <a:solidFill>
                  <a:srgbClr val="F8FAFC"/>
                </a:solidFill>
              </a:defRPr>
            </a:pPr>
            <a:r>
              <a:t>• Mesej bertimbun ratusan baris setiap pagi.</a:t>
            </a:r>
            <a:br/>
            <a:r>
              <a:t>• Sukar mengesan kelas yang belum mengisi.</a:t>
            </a:r>
            <a:br/>
            <a:r>
              <a:t>• Kira peratus manual guna kalkulator (45 minit).</a:t>
            </a:r>
            <a:br/>
            <a:r>
              <a:t>• Laporan ke PPD tertangguh.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71416" y="2103120"/>
            <a:ext cx="3246120" cy="3931920"/>
          </a:xfrm>
          <a:prstGeom prst="roundRect">
            <a:avLst/>
          </a:prstGeom>
          <a:solidFill>
            <a:srgbClr val="190F19"/>
          </a:solidFill>
          <a:ln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59E0B"/>
                </a:solidFill>
              </a:defRPr>
            </a:pPr>
            <a:r>
              <a:t>📖 2. Buku Disiplin Pernah Dikoyak!</a:t>
            </a:r>
          </a:p>
          <a:p>
            <a:pPr>
              <a:defRPr sz="1100">
                <a:solidFill>
                  <a:srgbClr val="F8FAFC"/>
                </a:solidFill>
              </a:defRPr>
            </a:pPr>
            <a:r>
              <a:t>• Menggunakan buku rekod fizikal yang rapuh.</a:t>
            </a:r>
            <a:br/>
            <a:r>
              <a:t>• Halaman pernah DIKOYAK / DISABOTAJ!</a:t>
            </a:r>
            <a:br/>
            <a:r>
              <a:t>• Bukti salah laku murid lenyap begitu sahaja.</a:t>
            </a:r>
            <a:br/>
            <a:r>
              <a:t>• Tindakan susulan kaunseling terbantut.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28432" y="2103120"/>
            <a:ext cx="3246120" cy="3931920"/>
          </a:xfrm>
          <a:prstGeom prst="roundRect">
            <a:avLst/>
          </a:prstGeom>
          <a:solidFill>
            <a:srgbClr val="190F19"/>
          </a:solidFill>
          <a:ln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59E0B"/>
                </a:solidFill>
              </a:defRPr>
            </a:pPr>
            <a:r>
              <a:t>📸 3. Laporan Telegram Bercampur</a:t>
            </a:r>
          </a:p>
          <a:p>
            <a:pPr>
              <a:defRPr sz="1100">
                <a:solidFill>
                  <a:srgbClr val="F8FAFC"/>
                </a:solidFill>
              </a:defRPr>
            </a:pPr>
            <a:r>
              <a:t>• Foto Guru Penyayang di pintu pagar hilang.</a:t>
            </a:r>
            <a:br/>
            <a:r>
              <a:t>• Bercampur dengan perbualan harian Telegram.</a:t>
            </a:r>
            <a:br/>
            <a:r>
              <a:t>• Tiada One-Page Report (OPR) yang seragam.</a:t>
            </a:r>
            <a:br/>
            <a:r>
              <a:t>• Evidens audit SKPMg2 / TS25 tercicir.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D1E"/>
          </a:solidFill>
          <a:ln>
            <a:solidFill>
              <a:srgbClr val="070D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91228"/>
          </a:solidFill>
          <a:ln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logo-kpm-cutou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09728"/>
            <a:ext cx="799815" cy="640080"/>
          </a:xfrm>
          <a:prstGeom prst="rect">
            <a:avLst/>
          </a:prstGeom>
        </p:spPr>
      </p:pic>
      <p:pic>
        <p:nvPicPr>
          <p:cNvPr id="5" name="Picture 4" descr="logo-skrg-cutou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88720" y="109728"/>
            <a:ext cx="497040" cy="640080"/>
          </a:xfrm>
          <a:prstGeom prst="rect">
            <a:avLst/>
          </a:prstGeom>
        </p:spPr>
      </p:pic>
      <p:pic>
        <p:nvPicPr>
          <p:cNvPr id="6" name="Picture 5" descr="logo_rasmi_hem_smarttrack_cutou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11680" y="109728"/>
            <a:ext cx="640080" cy="64008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2834640" y="109728"/>
            <a:ext cx="6400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F59E0B"/>
                </a:solidFill>
              </a:defRPr>
            </a:pPr>
            <a:r>
              <a:t>SEKOLAH KEBANGSAAN RANGGU, TAWAU (XBA3037) • TS25</a:t>
            </a:r>
          </a:p>
          <a:p>
            <a:pPr>
              <a:defRPr sz="1100" b="1">
                <a:solidFill>
                  <a:srgbClr val="06B6D4"/>
                </a:solidFill>
              </a:defRPr>
            </a:pPr>
            <a:r>
              <a:t>TITIK TRANSFORMASI DIGITAL SK RANGGU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0" y="182880"/>
            <a:ext cx="25603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F8FAFC"/>
                </a:solidFill>
              </a:defRPr>
            </a:pPr>
            <a:r>
              <a:t>HAL EHWAL MURID</a:t>
            </a:r>
          </a:p>
        </p:txBody>
      </p:sp>
      <p:pic>
        <p:nvPicPr>
          <p:cNvPr id="9" name="Picture 8" descr="logo_rasmi_hem_smarttrack_cutou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7280" y="1645920"/>
            <a:ext cx="3474720" cy="347472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4937760" y="1463040"/>
            <a:ext cx="6400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F59E0B"/>
                </a:solidFill>
              </a:defRPr>
            </a:pPr>
            <a:r>
              <a:t>SATU INOVASI TULEN GURU AKAR UMBI</a:t>
            </a:r>
          </a:p>
          <a:p>
            <a:pPr>
              <a:defRPr sz="3600" b="1">
                <a:solidFill>
                  <a:srgbClr val="F8FAFC"/>
                </a:solidFill>
              </a:defRPr>
            </a:pPr>
            <a:r>
              <a:t>HEM SmartTrack SK Ranggu</a:t>
            </a:r>
          </a:p>
          <a:p>
            <a:pPr>
              <a:defRPr sz="1600" b="1">
                <a:solidFill>
                  <a:srgbClr val="06B6D4"/>
                </a:solidFill>
              </a:defRPr>
            </a:pPr>
            <a:r>
              <a:t>Inovator &amp; Pembangun Sistem:</a:t>
            </a:r>
            <a:br/>
            <a:r>
              <a:t>MOHAMMAD FIKREY BIN ABDUL GAPAR</a:t>
            </a:r>
            <a:br/>
            <a:r>
              <a:t>Guru Inovasi &amp; Pembangun Sistem HEM SmartTrack</a:t>
            </a:r>
          </a:p>
          <a:p>
            <a:br/>
            <a:pPr>
              <a:defRPr sz="1300">
                <a:solidFill>
                  <a:srgbClr val="F8FAFC"/>
                </a:solidFill>
              </a:defRPr>
            </a:pPr>
            <a:r>
              <a:t>• Dibangunkan 100% tanpa kos luar (Sifar Kos Lesen RM0)</a:t>
            </a:r>
            <a:br/>
            <a:r>
              <a:t>• Menggunakan teknologi awan PWA moden yang mesra sebarang telefon bimbit</a:t>
            </a:r>
            <a:br/>
            <a:r>
              <a:t>• Menghubungkan kehadiran, disiplin, pemantauan dan arkib awan dalam satu klik</a:t>
            </a:r>
            <a:br/>
            <a:r>
              <a:t>• Integriti data kalis manipulasi dan kalis sabotaj!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D1E"/>
          </a:solidFill>
          <a:ln>
            <a:solidFill>
              <a:srgbClr val="070D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91228"/>
          </a:solidFill>
          <a:ln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logo-kpm-cutou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09728"/>
            <a:ext cx="799815" cy="640080"/>
          </a:xfrm>
          <a:prstGeom prst="rect">
            <a:avLst/>
          </a:prstGeom>
        </p:spPr>
      </p:pic>
      <p:pic>
        <p:nvPicPr>
          <p:cNvPr id="5" name="Picture 4" descr="logo-skrg-cutou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88720" y="109728"/>
            <a:ext cx="497040" cy="640080"/>
          </a:xfrm>
          <a:prstGeom prst="rect">
            <a:avLst/>
          </a:prstGeom>
        </p:spPr>
      </p:pic>
      <p:pic>
        <p:nvPicPr>
          <p:cNvPr id="6" name="Picture 5" descr="logo_rasmi_hem_smarttrack_cutou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11680" y="109728"/>
            <a:ext cx="640080" cy="64008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2834640" y="109728"/>
            <a:ext cx="6400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F59E0B"/>
                </a:solidFill>
              </a:defRPr>
            </a:pPr>
            <a:r>
              <a:t>SEKOLAH KEBANGSAAN RANGGU, TAWAU (XBA3037) • TS25</a:t>
            </a:r>
          </a:p>
          <a:p>
            <a:pPr>
              <a:defRPr sz="1100" b="1">
                <a:solidFill>
                  <a:srgbClr val="06B6D4"/>
                </a:solidFill>
              </a:defRPr>
            </a:pPr>
            <a:r>
              <a:t>EKOSISTEM BERSEPADU: 9 MODUL PINTAR MASA NYATA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0" y="182880"/>
            <a:ext cx="25603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F8FAFC"/>
                </a:solidFill>
              </a:defRPr>
            </a:pPr>
            <a:r>
              <a:t>HAL EHWAL MURID</a:t>
            </a:r>
          </a:p>
        </p:txBody>
      </p:sp>
      <p:pic>
        <p:nvPicPr>
          <p:cNvPr id="9" name="Picture 8" descr="modul_01_ejkm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4400" y="1371600"/>
            <a:ext cx="4937760" cy="2743200"/>
          </a:xfrm>
          <a:prstGeom prst="rect">
            <a:avLst/>
          </a:prstGeom>
        </p:spPr>
      </p:pic>
      <p:pic>
        <p:nvPicPr>
          <p:cNvPr id="10" name="Picture 9" descr="modul_04_smartdisiplin_utama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09360" y="1371600"/>
            <a:ext cx="4937760" cy="27432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14400" y="4297680"/>
            <a:ext cx="10362895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F59E0B"/>
                </a:solidFill>
              </a:defRPr>
            </a:pPr>
            <a:r>
              <a:t>SEMUA 9 MODUL AKTIF DIGUNAKAN DI SK RANGGU SETIAP HARI:</a:t>
            </a:r>
          </a:p>
          <a:p>
            <a:pPr>
              <a:defRPr sz="1200">
                <a:solidFill>
                  <a:srgbClr val="F8FAFC"/>
                </a:solidFill>
              </a:defRPr>
            </a:pPr>
            <a:r>
              <a:t>01 e-JKM (Kehadiran 24 Kelas)  •  02 Keberadaan 58 Guru/AKP  •  03 Guru Bertugas Harian  •  04 HEM SmartDisiplin (Kalis Koyak)</a:t>
            </a:r>
            <a:br/>
            <a:r>
              <a:t>05 Guru Bertugas RMT  •  06 Rekod Kalendar Audit  •  07 Pemantauan 29 Zon Sekolah  •  08 Analisis KPI 96%  •  09 Template OPR Google Drive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D1E"/>
          </a:solidFill>
          <a:ln>
            <a:solidFill>
              <a:srgbClr val="070D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91228"/>
          </a:solidFill>
          <a:ln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logo-kpm-cutou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09728"/>
            <a:ext cx="799815" cy="640080"/>
          </a:xfrm>
          <a:prstGeom prst="rect">
            <a:avLst/>
          </a:prstGeom>
        </p:spPr>
      </p:pic>
      <p:pic>
        <p:nvPicPr>
          <p:cNvPr id="5" name="Picture 4" descr="logo-skrg-cutou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88720" y="109728"/>
            <a:ext cx="497040" cy="640080"/>
          </a:xfrm>
          <a:prstGeom prst="rect">
            <a:avLst/>
          </a:prstGeom>
        </p:spPr>
      </p:pic>
      <p:pic>
        <p:nvPicPr>
          <p:cNvPr id="6" name="Picture 5" descr="logo_rasmi_hem_smarttrack_cutou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11680" y="109728"/>
            <a:ext cx="640080" cy="64008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2834640" y="109728"/>
            <a:ext cx="6400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F59E0B"/>
                </a:solidFill>
              </a:defRPr>
            </a:pPr>
            <a:r>
              <a:t>SEKOLAH KEBANGSAAN RANGGU, TAWAU (XBA3037) • TS25</a:t>
            </a:r>
          </a:p>
          <a:p>
            <a:pPr>
              <a:defRPr sz="1100" b="1">
                <a:solidFill>
                  <a:srgbClr val="06B6D4"/>
                </a:solidFill>
              </a:defRPr>
            </a:pPr>
            <a:r>
              <a:t>EVIDENS AUTENTIK: KESELAMATAN &amp; DISIPLIN KALIS KOYAK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0" y="182880"/>
            <a:ext cx="25603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F8FAFC"/>
                </a:solidFill>
              </a:defRPr>
            </a:pPr>
            <a:r>
              <a:t>HAL EHWAL MURID</a:t>
            </a:r>
          </a:p>
        </p:txBody>
      </p:sp>
      <p:pic>
        <p:nvPicPr>
          <p:cNvPr id="9" name="Picture 8" descr="modul_09_template_opr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4400" y="1371600"/>
            <a:ext cx="4937760" cy="2743200"/>
          </a:xfrm>
          <a:prstGeom prst="rect">
            <a:avLst/>
          </a:prstGeom>
        </p:spPr>
      </p:pic>
      <p:pic>
        <p:nvPicPr>
          <p:cNvPr id="10" name="Picture 9" descr="modul_08_analisis_kehadiran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09360" y="1371600"/>
            <a:ext cx="4937760" cy="27432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14400" y="4297680"/>
            <a:ext cx="10362895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6B6D4"/>
                </a:solidFill>
              </a:defRPr>
            </a:pPr>
            <a:r>
              <a:t>INTEGRITI DISIPLIN TERPELIHARA &amp; AUTOMASI LAPORAN OPR GOOGLE DRIVE:</a:t>
            </a:r>
          </a:p>
          <a:p>
            <a:pPr>
              <a:defRPr sz="1200">
                <a:solidFill>
                  <a:srgbClr val="F8FAFC"/>
                </a:solidFill>
              </a:defRPr>
            </a:pPr>
            <a:r>
              <a:t>• Modul 04 SmartDisiplin: Sifar rekod hilang kerana data disimpan terus dalam pangkalan data awan berkod ID rasmi.</a:t>
            </a:r>
            <a:br/>
            <a:r>
              <a:t>• Modul 07 &amp; 09 Pemantauan: Butang muat naik gambar aktiviti Guru Penyayang di pintu pagar terus menjana OPR 4 foto.</a:t>
            </a:r>
            <a:br/>
            <a:r>
              <a:t>• Tiada lagi gambar berterabur dalam Telegram; semua difailkan secara automatik ke Google Drive pengurusan HEM.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D1E"/>
          </a:solidFill>
          <a:ln>
            <a:solidFill>
              <a:srgbClr val="070D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91228"/>
          </a:solidFill>
          <a:ln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logo-kpm-cutou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09728"/>
            <a:ext cx="799815" cy="640080"/>
          </a:xfrm>
          <a:prstGeom prst="rect">
            <a:avLst/>
          </a:prstGeom>
        </p:spPr>
      </p:pic>
      <p:pic>
        <p:nvPicPr>
          <p:cNvPr id="5" name="Picture 4" descr="logo-skrg-cutou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88720" y="109728"/>
            <a:ext cx="497040" cy="640080"/>
          </a:xfrm>
          <a:prstGeom prst="rect">
            <a:avLst/>
          </a:prstGeom>
        </p:spPr>
      </p:pic>
      <p:pic>
        <p:nvPicPr>
          <p:cNvPr id="6" name="Picture 5" descr="logo_rasmi_hem_smarttrack_cutou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11680" y="109728"/>
            <a:ext cx="640080" cy="64008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2834640" y="109728"/>
            <a:ext cx="6400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F59E0B"/>
                </a:solidFill>
              </a:defRPr>
            </a:pPr>
            <a:r>
              <a:t>SEKOLAH KEBANGSAAN RANGGU, TAWAU (XBA3037) • TS25</a:t>
            </a:r>
          </a:p>
          <a:p>
            <a:pPr>
              <a:defRPr sz="1100" b="1">
                <a:solidFill>
                  <a:srgbClr val="06B6D4"/>
                </a:solidFill>
              </a:defRPr>
            </a:pPr>
            <a:r>
              <a:t>DAPATAN IMPAK &amp; KEBERKESANAN (50 MARKAH PENJURIAN)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0" y="182880"/>
            <a:ext cx="25603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F8FAFC"/>
                </a:solidFill>
              </a:defRPr>
            </a:pPr>
            <a:r>
              <a:t>HAL EHWAL MURID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1097280"/>
            <a:ext cx="103628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59E0B"/>
                </a:solidFill>
              </a:defRPr>
            </a:pPr>
            <a:r>
              <a:t>BUKTI KEJAYAAN EMPIRIKAL DI SK RANGGU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14400" y="2011680"/>
            <a:ext cx="2377440" cy="4114800"/>
          </a:xfrm>
          <a:prstGeom prst="roundRect">
            <a:avLst/>
          </a:prstGeom>
          <a:solidFill>
            <a:srgbClr val="0D1731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06B6D4"/>
                </a:solidFill>
              </a:defRPr>
            </a:pPr>
            <a:r>
              <a:t>⏱️ 89% PENJIMATAN MASA</a:t>
            </a:r>
          </a:p>
          <a:p>
            <a:pPr>
              <a:defRPr sz="1800" b="1">
                <a:solidFill>
                  <a:srgbClr val="F59E0B"/>
                </a:solidFill>
              </a:defRPr>
            </a:pPr>
            <a:r>
              <a:t>45 Minit ➔ 5 Minit</a:t>
            </a:r>
          </a:p>
          <a:p>
            <a:br/>
            <a:pPr>
              <a:defRPr sz="1100">
                <a:solidFill>
                  <a:srgbClr val="F8FAFC"/>
                </a:solidFill>
              </a:defRPr>
            </a:pPr>
            <a:r>
              <a:t>Pengumpulan dan pengesahan kehadiran siap dalam masa 5 minit setiap pagi seawal 7:30.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566160" y="2011680"/>
            <a:ext cx="2377440" cy="4114800"/>
          </a:xfrm>
          <a:prstGeom prst="roundRect">
            <a:avLst/>
          </a:prstGeom>
          <a:solidFill>
            <a:srgbClr val="0D1731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06B6D4"/>
                </a:solidFill>
              </a:defRPr>
            </a:pPr>
            <a:r>
              <a:t>🛡️ SIFAR REKOD HILANG</a:t>
            </a:r>
          </a:p>
          <a:p>
            <a:pPr>
              <a:defRPr sz="1800" b="1">
                <a:solidFill>
                  <a:srgbClr val="F59E0B"/>
                </a:solidFill>
              </a:defRPr>
            </a:pPr>
            <a:r>
              <a:t>0 Kes Sabotaj</a:t>
            </a:r>
          </a:p>
          <a:p>
            <a:br/>
            <a:pPr>
              <a:defRPr sz="1100">
                <a:solidFill>
                  <a:srgbClr val="F8FAFC"/>
                </a:solidFill>
              </a:defRPr>
            </a:pPr>
            <a:r>
              <a:t>Isu helaian buku disiplin dikoyak dihapuskan sepenuhnya. 100% data salah laku direkod telus.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2011680"/>
            <a:ext cx="2377440" cy="4114800"/>
          </a:xfrm>
          <a:prstGeom prst="roundRect">
            <a:avLst/>
          </a:prstGeom>
          <a:solidFill>
            <a:srgbClr val="0D1731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06B6D4"/>
                </a:solidFill>
              </a:defRPr>
            </a:pPr>
            <a:r>
              <a:t>📈 96.4% KEHADIRAN</a:t>
            </a:r>
          </a:p>
          <a:p>
            <a:pPr>
              <a:defRPr sz="1800" b="1">
                <a:solidFill>
                  <a:srgbClr val="F59E0B"/>
                </a:solidFill>
              </a:defRPr>
            </a:pPr>
            <a:r>
              <a:t>Melepasi Sasaran 96%</a:t>
            </a:r>
          </a:p>
          <a:p>
            <a:br/>
            <a:pPr>
              <a:defRPr sz="1100">
                <a:solidFill>
                  <a:srgbClr val="F8FAFC"/>
                </a:solidFill>
              </a:defRPr>
            </a:pPr>
            <a:r>
              <a:t>Pengesanan pantas murid ponteng membolehkan kaunseling awal, mengekalkan KPI cemerlang.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869680" y="2011680"/>
            <a:ext cx="2377440" cy="4114800"/>
          </a:xfrm>
          <a:prstGeom prst="roundRect">
            <a:avLst/>
          </a:prstGeom>
          <a:solidFill>
            <a:srgbClr val="0D1731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06B6D4"/>
                </a:solidFill>
              </a:defRPr>
            </a:pPr>
            <a:r>
              <a:t>🌟 98.4% KEPUASAN GURU</a:t>
            </a:r>
          </a:p>
          <a:p>
            <a:pPr>
              <a:defRPr sz="1800" b="1">
                <a:solidFill>
                  <a:srgbClr val="F59E0B"/>
                </a:solidFill>
              </a:defRPr>
            </a:pPr>
            <a:r>
              <a:t>58 Orang Guru Bersetuju</a:t>
            </a:r>
          </a:p>
          <a:p>
            <a:br/>
            <a:pPr>
              <a:defRPr sz="1100">
                <a:solidFill>
                  <a:srgbClr val="F8FAFC"/>
                </a:solidFill>
              </a:defRPr>
            </a:pPr>
            <a:r>
              <a:t>Sistem sangat mesra pengguna, mengurangkan tekanan perkeranian dan menjimatkan masa PdP.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D1E"/>
          </a:solidFill>
          <a:ln>
            <a:solidFill>
              <a:srgbClr val="070D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91228"/>
          </a:solidFill>
          <a:ln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logo-kpm-cutou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09728"/>
            <a:ext cx="799815" cy="640080"/>
          </a:xfrm>
          <a:prstGeom prst="rect">
            <a:avLst/>
          </a:prstGeom>
        </p:spPr>
      </p:pic>
      <p:pic>
        <p:nvPicPr>
          <p:cNvPr id="5" name="Picture 4" descr="logo-skrg-cutou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88720" y="109728"/>
            <a:ext cx="497040" cy="640080"/>
          </a:xfrm>
          <a:prstGeom prst="rect">
            <a:avLst/>
          </a:prstGeom>
        </p:spPr>
      </p:pic>
      <p:pic>
        <p:nvPicPr>
          <p:cNvPr id="6" name="Picture 5" descr="logo_rasmi_hem_smarttrack_cutou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11680" y="109728"/>
            <a:ext cx="640080" cy="64008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2834640" y="109728"/>
            <a:ext cx="6400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F59E0B"/>
                </a:solidFill>
              </a:defRPr>
            </a:pPr>
            <a:r>
              <a:t>SEKOLAH KEBANGSAAN RANGGU, TAWAU (XBA3037) • TS25</a:t>
            </a:r>
          </a:p>
          <a:p>
            <a:pPr>
              <a:defRPr sz="1100" b="1">
                <a:solidFill>
                  <a:srgbClr val="06B6D4"/>
                </a:solidFill>
              </a:defRPr>
            </a:pPr>
            <a:r>
              <a:t>MENUJU ANUGERAH EMAS AMALAN TERBAIK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0" y="182880"/>
            <a:ext cx="25603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F8FAFC"/>
                </a:solidFill>
              </a:defRPr>
            </a:pPr>
            <a:r>
              <a:t>HAL EHWAL MURID</a:t>
            </a:r>
          </a:p>
        </p:txBody>
      </p:sp>
      <p:pic>
        <p:nvPicPr>
          <p:cNvPr id="9" name="Picture 8" descr="logo_rasmi_hem_smarttrack_cutou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80990" y="1371600"/>
            <a:ext cx="1828800" cy="18288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371600" y="3383280"/>
            <a:ext cx="9448495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F59E0B"/>
                </a:solidFill>
              </a:defRPr>
            </a:pPr>
            <a:r>
              <a:t>SATU PORTAL, SIFAR KEHILANGAN REKOD!</a:t>
            </a:r>
          </a:p>
          <a:p>
            <a:pPr algn="ctr">
              <a:defRPr sz="1800">
                <a:solidFill>
                  <a:srgbClr val="F8FAFC"/>
                </a:solidFill>
              </a:defRPr>
            </a:pPr>
            <a:r>
              <a:t>HEM SmartTrack: Merealisasikan Pengurusan Data Pintar Demi Kemenjadian Murid SK Ranggu</a:t>
            </a:r>
          </a:p>
          <a:p>
            <a:br/>
            <a:pPr algn="ctr">
              <a:defRPr sz="1400" b="1">
                <a:solidFill>
                  <a:srgbClr val="06B6D4"/>
                </a:solidFill>
              </a:defRPr>
            </a:pPr>
            <a:r>
              <a:t>Sekolah Kebangsaan Ranggu, Tawau  •  "Selangkah Di Hadapan"</a:t>
            </a:r>
            <a:br/>
            <a:r>
              <a:t>Pembentang: MOHAMMAD FIKREY BIN ABDUL GAPAR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